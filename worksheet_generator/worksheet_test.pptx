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7">
  <p:sldMasterIdLst>
    <p:sldMasterId id="2147483654" r:id="rId1"/>
  </p:sldMasterIdLst>
  <p:notesMasterIdLst>
    <p:notesMasterId r:id="rId3"/>
  </p:notesMasterIdLst>
  <p:sldIdLst>
    <p:sldId id="1282" r:id="rId2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" userDrawn="1">
          <p15:clr>
            <a:srgbClr val="C35EA4"/>
          </p15:clr>
        </p15:guide>
        <p15:guide id="3" pos="262" userDrawn="1">
          <p15:clr>
            <a:srgbClr val="547EBF"/>
          </p15:clr>
        </p15:guide>
        <p15:guide id="4" orient="horz" pos="4110" userDrawn="1">
          <p15:clr>
            <a:srgbClr val="C35EA4"/>
          </p15:clr>
        </p15:guide>
        <p15:guide id="5" pos="6114" userDrawn="1">
          <p15:clr>
            <a:srgbClr val="547EBF"/>
          </p15:clr>
        </p15:guide>
        <p15:guide id="6" pos="126" userDrawn="1">
          <p15:clr>
            <a:srgbClr val="547EBF"/>
          </p15:clr>
        </p15:guide>
        <p15:guide id="7" pos="2984" userDrawn="1">
          <p15:clr>
            <a:srgbClr val="547EBF"/>
          </p15:clr>
        </p15:guide>
        <p15:guide id="8" pos="3256" userDrawn="1">
          <p15:clr>
            <a:srgbClr val="547EBF"/>
          </p15:clr>
        </p15:guide>
        <p15:guide id="9" pos="3392" userDrawn="1">
          <p15:clr>
            <a:srgbClr val="547EBF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0" roundtripDataSignature="AMtx7mhRjDVqPAYVr7svCNdWSzZFR56n/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uvendu Mishra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6B1F"/>
    <a:srgbClr val="528D52"/>
    <a:srgbClr val="090E8C"/>
    <a:srgbClr val="557FC9"/>
    <a:srgbClr val="000000"/>
    <a:srgbClr val="5FA00F"/>
    <a:srgbClr val="86B749"/>
    <a:srgbClr val="6FA927"/>
    <a:srgbClr val="FFFFFF"/>
    <a:srgbClr val="0D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9" autoAdjust="0"/>
    <p:restoredTop sz="95521" autoAdjust="0"/>
  </p:normalViewPr>
  <p:slideViewPr>
    <p:cSldViewPr>
      <p:cViewPr>
        <p:scale>
          <a:sx n="100" d="100"/>
          <a:sy n="100" d="100"/>
        </p:scale>
        <p:origin x="1614" y="174"/>
      </p:cViewPr>
      <p:guideLst>
        <p:guide orient="horz" pos="436"/>
        <p:guide pos="262"/>
        <p:guide orient="horz" pos="4110"/>
        <p:guide pos="6114"/>
        <p:guide pos="126"/>
        <p:guide pos="2984"/>
        <p:guide pos="3256"/>
        <p:guide pos="33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387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112" Type="http://schemas.openxmlformats.org/officeDocument/2006/relationships/presProps" Target="presProps.xml"/><Relationship Id="rId2" Type="http://schemas.openxmlformats.org/officeDocument/2006/relationships/slide" Target="slides/slide1.xml"/><Relationship Id="rId11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110" Type="http://customschemas.google.com/relationships/presentationmetadata" Target="metadata"/><Relationship Id="rId115" Type="http://schemas.openxmlformats.org/officeDocument/2006/relationships/tableStyles" Target="tableStyles.xml"/><Relationship Id="rId114" Type="http://schemas.openxmlformats.org/officeDocument/2006/relationships/theme" Target="theme/theme1.xml"/><Relationship Id="rId11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1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82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-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7CC6B84-B070-F038-C621-635CB9AF7B69}"/>
              </a:ext>
            </a:extLst>
          </p:cNvPr>
          <p:cNvCxnSpPr>
            <a:cxnSpLocks/>
          </p:cNvCxnSpPr>
          <p:nvPr userDrawn="1"/>
        </p:nvCxnSpPr>
        <p:spPr>
          <a:xfrm>
            <a:off x="4953000" y="-11503"/>
            <a:ext cx="0" cy="6541452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83A5A8B-2788-06A0-5DC2-82059549FD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86"/>
          <a:stretch>
            <a:fillRect/>
          </a:stretch>
        </p:blipFill>
        <p:spPr bwMode="auto">
          <a:xfrm>
            <a:off x="231379" y="6545094"/>
            <a:ext cx="693356" cy="32853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4B7A37-E3A9-243A-D1FE-C444C252B22A}"/>
              </a:ext>
            </a:extLst>
          </p:cNvPr>
          <p:cNvCxnSpPr/>
          <p:nvPr userDrawn="1"/>
        </p:nvCxnSpPr>
        <p:spPr>
          <a:xfrm>
            <a:off x="-97472" y="6514323"/>
            <a:ext cx="10100944" cy="0"/>
          </a:xfrm>
          <a:prstGeom prst="line">
            <a:avLst/>
          </a:prstGeom>
          <a:ln w="28575">
            <a:solidFill>
              <a:srgbClr val="92D050">
                <a:alpha val="50000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0">
            <a:extLst>
              <a:ext uri="{FF2B5EF4-FFF2-40B4-BE49-F238E27FC236}">
                <a16:creationId xmlns:a16="http://schemas.microsoft.com/office/drawing/2014/main" id="{89FB74F8-220B-611E-7477-3CFB2F471379}"/>
              </a:ext>
            </a:extLst>
          </p:cNvPr>
          <p:cNvSpPr txBox="1"/>
          <p:nvPr userDrawn="1"/>
        </p:nvSpPr>
        <p:spPr>
          <a:xfrm>
            <a:off x="8261655" y="6545094"/>
            <a:ext cx="14705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00" dirty="0">
                <a:solidFill>
                  <a:srgbClr val="BFBFB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@Aveti Learning Pvt. Ltd.</a:t>
            </a: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CC6B84-B070-F038-C621-635CB9AF7B69}"/>
              </a:ext>
            </a:extLst>
          </p:cNvPr>
          <p:cNvCxnSpPr>
            <a:cxnSpLocks/>
          </p:cNvCxnSpPr>
          <p:nvPr userDrawn="1"/>
        </p:nvCxnSpPr>
        <p:spPr>
          <a:xfrm>
            <a:off x="4953000" y="-27129"/>
            <a:ext cx="0" cy="6541452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2575E58-99DA-8B1E-9967-9A29D5306A2D}"/>
              </a:ext>
            </a:extLst>
          </p:cNvPr>
          <p:cNvSpPr/>
          <p:nvPr userDrawn="1"/>
        </p:nvSpPr>
        <p:spPr>
          <a:xfrm>
            <a:off x="0" y="-15626"/>
            <a:ext cx="9906000" cy="499106"/>
          </a:xfrm>
          <a:prstGeom prst="rect">
            <a:avLst/>
          </a:prstGeom>
          <a:solidFill>
            <a:srgbClr val="C9EFB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49530" tIns="24765" rIns="49530" bIns="24765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21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endParaRPr lang="en-IN" sz="445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366D5B-F9CC-AA2A-6F64-CA010C35E8EE}"/>
              </a:ext>
            </a:extLst>
          </p:cNvPr>
          <p:cNvGrpSpPr/>
          <p:nvPr userDrawn="1"/>
        </p:nvGrpSpPr>
        <p:grpSpPr>
          <a:xfrm>
            <a:off x="9129713" y="7295"/>
            <a:ext cx="469105" cy="450297"/>
            <a:chOff x="9254857" y="12739"/>
            <a:chExt cx="439211" cy="42160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1C17D42-AD64-862F-AA61-5858FC8368FA}"/>
                </a:ext>
              </a:extLst>
            </p:cNvPr>
            <p:cNvSpPr/>
            <p:nvPr userDrawn="1"/>
          </p:nvSpPr>
          <p:spPr>
            <a:xfrm>
              <a:off x="9254857" y="12739"/>
              <a:ext cx="439211" cy="421602"/>
            </a:xfrm>
            <a:prstGeom prst="ellipse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49530" tIns="24765" rIns="49530" bIns="2476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821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821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821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821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821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821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821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821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821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endParaRPr lang="en-IN" sz="488" dirty="0"/>
            </a:p>
          </p:txBody>
        </p:sp>
        <p:pic>
          <p:nvPicPr>
            <p:cNvPr id="21" name="Picture 20" descr="A green triangle with a white logo&#10;&#10;AI-generated content may be incorrect.">
              <a:extLst>
                <a:ext uri="{FF2B5EF4-FFF2-40B4-BE49-F238E27FC236}">
                  <a16:creationId xmlns:a16="http://schemas.microsoft.com/office/drawing/2014/main" id="{D21F79A4-074F-D776-281A-7D11192D5FA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65" t="11232" r="10448" b="16789"/>
            <a:stretch>
              <a:fillRect/>
            </a:stretch>
          </p:blipFill>
          <p:spPr bwMode="auto">
            <a:xfrm>
              <a:off x="9301554" y="34172"/>
              <a:ext cx="369628" cy="3453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23775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1" name="Group 1960">
            <a:extLst>
              <a:ext uri="{FF2B5EF4-FFF2-40B4-BE49-F238E27FC236}">
                <a16:creationId xmlns:a16="http://schemas.microsoft.com/office/drawing/2014/main" id="{947670E8-7DAE-5578-B397-ED6D3296789E}"/>
              </a:ext>
            </a:extLst>
          </p:cNvPr>
          <p:cNvGrpSpPr/>
          <p:nvPr userDrawn="1"/>
        </p:nvGrpSpPr>
        <p:grpSpPr>
          <a:xfrm>
            <a:off x="4661408" y="-993058"/>
            <a:ext cx="5244595" cy="840658"/>
            <a:chOff x="4800598" y="6813753"/>
            <a:chExt cx="14711518" cy="3473247"/>
          </a:xfrm>
        </p:grpSpPr>
        <p:sp>
          <p:nvSpPr>
            <p:cNvPr id="1962" name="Rectangle 1961">
              <a:extLst>
                <a:ext uri="{FF2B5EF4-FFF2-40B4-BE49-F238E27FC236}">
                  <a16:creationId xmlns:a16="http://schemas.microsoft.com/office/drawing/2014/main" id="{70D60609-9198-ADC5-E2C5-85B318D1269A}"/>
                </a:ext>
              </a:extLst>
            </p:cNvPr>
            <p:cNvSpPr/>
            <p:nvPr/>
          </p:nvSpPr>
          <p:spPr>
            <a:xfrm>
              <a:off x="4800598" y="6813755"/>
              <a:ext cx="2448233" cy="3473245"/>
            </a:xfrm>
            <a:prstGeom prst="rect">
              <a:avLst/>
            </a:prstGeom>
            <a:solidFill>
              <a:srgbClr val="E959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5" dirty="0"/>
                <a:t>#E95959</a:t>
              </a:r>
              <a:endParaRPr lang="or-IN" sz="445" dirty="0"/>
            </a:p>
          </p:txBody>
        </p:sp>
        <p:sp>
          <p:nvSpPr>
            <p:cNvPr id="1963" name="Rectangle 1962">
              <a:extLst>
                <a:ext uri="{FF2B5EF4-FFF2-40B4-BE49-F238E27FC236}">
                  <a16:creationId xmlns:a16="http://schemas.microsoft.com/office/drawing/2014/main" id="{D4F73F64-E866-C73C-F11F-308925E15CD1}"/>
                </a:ext>
              </a:extLst>
            </p:cNvPr>
            <p:cNvSpPr/>
            <p:nvPr/>
          </p:nvSpPr>
          <p:spPr>
            <a:xfrm>
              <a:off x="7248831" y="6813754"/>
              <a:ext cx="2448233" cy="3473245"/>
            </a:xfrm>
            <a:prstGeom prst="rect">
              <a:avLst/>
            </a:prstGeom>
            <a:solidFill>
              <a:srgbClr val="03BA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5" dirty="0"/>
                <a:t>#03BADC</a:t>
              </a:r>
              <a:endParaRPr lang="or-IN" sz="445" dirty="0"/>
            </a:p>
          </p:txBody>
        </p:sp>
        <p:sp>
          <p:nvSpPr>
            <p:cNvPr id="1964" name="Rectangle 1963">
              <a:extLst>
                <a:ext uri="{FF2B5EF4-FFF2-40B4-BE49-F238E27FC236}">
                  <a16:creationId xmlns:a16="http://schemas.microsoft.com/office/drawing/2014/main" id="{6DBEA405-CE19-13D4-5D87-F0F54AD0FEA2}"/>
                </a:ext>
              </a:extLst>
            </p:cNvPr>
            <p:cNvSpPr/>
            <p:nvPr/>
          </p:nvSpPr>
          <p:spPr>
            <a:xfrm>
              <a:off x="9697064" y="6813755"/>
              <a:ext cx="2448233" cy="3473245"/>
            </a:xfrm>
            <a:prstGeom prst="rect">
              <a:avLst/>
            </a:prstGeom>
            <a:solidFill>
              <a:srgbClr val="F1AD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5" dirty="0"/>
                <a:t>#F1AD00</a:t>
              </a:r>
              <a:endParaRPr lang="or-IN" sz="445" dirty="0"/>
            </a:p>
          </p:txBody>
        </p:sp>
        <p:sp>
          <p:nvSpPr>
            <p:cNvPr id="1965" name="Rectangle 1964">
              <a:extLst>
                <a:ext uri="{FF2B5EF4-FFF2-40B4-BE49-F238E27FC236}">
                  <a16:creationId xmlns:a16="http://schemas.microsoft.com/office/drawing/2014/main" id="{3E4E9BCB-04C6-B8C6-AE3F-5C73BC8336E3}"/>
                </a:ext>
              </a:extLst>
            </p:cNvPr>
            <p:cNvSpPr/>
            <p:nvPr/>
          </p:nvSpPr>
          <p:spPr>
            <a:xfrm>
              <a:off x="12145297" y="6813753"/>
              <a:ext cx="2448233" cy="3473245"/>
            </a:xfrm>
            <a:prstGeom prst="rect">
              <a:avLst/>
            </a:prstGeom>
            <a:solidFill>
              <a:srgbClr val="D32BC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5" dirty="0"/>
                <a:t>#AE2A86</a:t>
              </a:r>
              <a:endParaRPr lang="or-IN" sz="445" dirty="0"/>
            </a:p>
          </p:txBody>
        </p:sp>
        <p:sp>
          <p:nvSpPr>
            <p:cNvPr id="1966" name="Rectangle 1965">
              <a:extLst>
                <a:ext uri="{FF2B5EF4-FFF2-40B4-BE49-F238E27FC236}">
                  <a16:creationId xmlns:a16="http://schemas.microsoft.com/office/drawing/2014/main" id="{6C0A150B-584F-9E12-9506-792C9D5FBD59}"/>
                </a:ext>
              </a:extLst>
            </p:cNvPr>
            <p:cNvSpPr/>
            <p:nvPr/>
          </p:nvSpPr>
          <p:spPr>
            <a:xfrm>
              <a:off x="14571409" y="6813755"/>
              <a:ext cx="2448233" cy="3473245"/>
            </a:xfrm>
            <a:prstGeom prst="rect">
              <a:avLst/>
            </a:prstGeom>
            <a:solidFill>
              <a:srgbClr val="2B295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5" dirty="0"/>
                <a:t>#51AE50</a:t>
              </a:r>
              <a:endParaRPr lang="or-IN" sz="445" dirty="0"/>
            </a:p>
          </p:txBody>
        </p:sp>
        <p:sp>
          <p:nvSpPr>
            <p:cNvPr id="1967" name="Rectangle 1966">
              <a:extLst>
                <a:ext uri="{FF2B5EF4-FFF2-40B4-BE49-F238E27FC236}">
                  <a16:creationId xmlns:a16="http://schemas.microsoft.com/office/drawing/2014/main" id="{040B8D37-09CA-DC17-109A-3DA6A2F3F430}"/>
                </a:ext>
              </a:extLst>
            </p:cNvPr>
            <p:cNvSpPr/>
            <p:nvPr/>
          </p:nvSpPr>
          <p:spPr>
            <a:xfrm>
              <a:off x="17063883" y="6813755"/>
              <a:ext cx="2448233" cy="3473245"/>
            </a:xfrm>
            <a:prstGeom prst="rect">
              <a:avLst/>
            </a:prstGeom>
            <a:solidFill>
              <a:srgbClr val="0C0A3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5" dirty="0"/>
                <a:t>#1A2C54</a:t>
              </a:r>
              <a:endParaRPr lang="or-IN" sz="445" dirty="0"/>
            </a:p>
          </p:txBody>
        </p:sp>
      </p:grpSp>
      <p:sp>
        <p:nvSpPr>
          <p:cNvPr id="1968" name="Rectangle 1967">
            <a:extLst>
              <a:ext uri="{FF2B5EF4-FFF2-40B4-BE49-F238E27FC236}">
                <a16:creationId xmlns:a16="http://schemas.microsoft.com/office/drawing/2014/main" id="{40F89E9F-0653-8D09-107A-676B5F988D9E}"/>
              </a:ext>
            </a:extLst>
          </p:cNvPr>
          <p:cNvSpPr/>
          <p:nvPr userDrawn="1"/>
        </p:nvSpPr>
        <p:spPr>
          <a:xfrm>
            <a:off x="2326892" y="-993057"/>
            <a:ext cx="782115" cy="840657"/>
          </a:xfrm>
          <a:prstGeom prst="rect">
            <a:avLst/>
          </a:prstGeom>
          <a:solidFill>
            <a:srgbClr val="B5EA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5" dirty="0">
                <a:solidFill>
                  <a:sysClr val="windowText" lastClr="000000"/>
                </a:solidFill>
              </a:rPr>
              <a:t>#B5EAF0</a:t>
            </a:r>
            <a:endParaRPr lang="or-IN" sz="445" dirty="0">
              <a:solidFill>
                <a:sysClr val="windowText" lastClr="000000"/>
              </a:solidFill>
            </a:endParaRPr>
          </a:p>
        </p:txBody>
      </p:sp>
      <p:sp>
        <p:nvSpPr>
          <p:cNvPr id="1969" name="Rectangle 1968">
            <a:extLst>
              <a:ext uri="{FF2B5EF4-FFF2-40B4-BE49-F238E27FC236}">
                <a16:creationId xmlns:a16="http://schemas.microsoft.com/office/drawing/2014/main" id="{C607BD42-FA8D-00EB-8381-EAC9C3B18EBF}"/>
              </a:ext>
            </a:extLst>
          </p:cNvPr>
          <p:cNvSpPr/>
          <p:nvPr userDrawn="1"/>
        </p:nvSpPr>
        <p:spPr>
          <a:xfrm>
            <a:off x="3105064" y="-993057"/>
            <a:ext cx="782115" cy="840657"/>
          </a:xfrm>
          <a:prstGeom prst="rect">
            <a:avLst/>
          </a:prstGeom>
          <a:solidFill>
            <a:srgbClr val="F5EA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5" dirty="0">
                <a:solidFill>
                  <a:sysClr val="windowText" lastClr="000000"/>
                </a:solidFill>
              </a:rPr>
              <a:t>#F5EAC8</a:t>
            </a:r>
            <a:endParaRPr lang="or-IN" sz="445" dirty="0">
              <a:solidFill>
                <a:sysClr val="windowText" lastClr="000000"/>
              </a:solidFill>
            </a:endParaRPr>
          </a:p>
        </p:txBody>
      </p:sp>
      <p:sp>
        <p:nvSpPr>
          <p:cNvPr id="1970" name="Rectangle 1969">
            <a:extLst>
              <a:ext uri="{FF2B5EF4-FFF2-40B4-BE49-F238E27FC236}">
                <a16:creationId xmlns:a16="http://schemas.microsoft.com/office/drawing/2014/main" id="{9E519EF3-6B1D-D56A-C688-73D57C9C7BEB}"/>
              </a:ext>
            </a:extLst>
          </p:cNvPr>
          <p:cNvSpPr/>
          <p:nvPr userDrawn="1"/>
        </p:nvSpPr>
        <p:spPr>
          <a:xfrm>
            <a:off x="3887179" y="-993055"/>
            <a:ext cx="782115" cy="840657"/>
          </a:xfrm>
          <a:prstGeom prst="rect">
            <a:avLst/>
          </a:prstGeom>
          <a:solidFill>
            <a:srgbClr val="F1DE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5" dirty="0">
                <a:solidFill>
                  <a:sysClr val="windowText" lastClr="000000"/>
                </a:solidFill>
              </a:rPr>
              <a:t>#F1DEFE</a:t>
            </a:r>
            <a:endParaRPr lang="or-IN" sz="445" dirty="0">
              <a:solidFill>
                <a:sysClr val="windowText" lastClr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B05A74-5A4B-0E39-3BF3-E66523A81904}"/>
              </a:ext>
            </a:extLst>
          </p:cNvPr>
          <p:cNvSpPr/>
          <p:nvPr userDrawn="1"/>
        </p:nvSpPr>
        <p:spPr>
          <a:xfrm>
            <a:off x="1529003" y="-993058"/>
            <a:ext cx="782115" cy="840657"/>
          </a:xfrm>
          <a:prstGeom prst="rect">
            <a:avLst/>
          </a:prstGeom>
          <a:solidFill>
            <a:srgbClr val="5A56A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5" dirty="0">
                <a:solidFill>
                  <a:schemeClr val="bg1"/>
                </a:solidFill>
              </a:rPr>
              <a:t>#5A56AA</a:t>
            </a:r>
            <a:endParaRPr lang="or-IN" sz="445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89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74306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65" indent="-185765" algn="l" defTabSz="74306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95" indent="-185765" algn="l" defTabSz="74306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825" indent="-185765" algn="l" defTabSz="74306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356" indent="-185765" algn="l" defTabSz="74306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884" indent="-185765" algn="l" defTabSz="74306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415" indent="-185765" algn="l" defTabSz="74306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945" indent="-185765" algn="l" defTabSz="74306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475" indent="-185765" algn="l" defTabSz="74306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8005" indent="-185765" algn="l" defTabSz="74306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306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530" algn="l" defTabSz="74306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3060" algn="l" defTabSz="74306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591" algn="l" defTabSz="74306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6120" algn="l" defTabSz="74306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650" algn="l" defTabSz="74306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9180" algn="l" defTabSz="74306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710" algn="l" defTabSz="74306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2240" algn="l" defTabSz="74306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7">
            <a:extLst>
              <a:ext uri="{FF2B5EF4-FFF2-40B4-BE49-F238E27FC236}">
                <a16:creationId xmlns:a16="http://schemas.microsoft.com/office/drawing/2014/main" id="{3481F5A9-021F-5410-389D-68E07A3AF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1267"/>
            <a:ext cx="9906000" cy="307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9530" tIns="24765" rIns="49530" bIns="24765" numCol="1" anchor="t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defTabSz="495373">
              <a:buClrTx/>
              <a:tabLst>
                <a:tab pos="1609963" algn="ctr"/>
                <a:tab pos="3219927" algn="r"/>
              </a:tabLst>
            </a:pPr>
            <a:r>
              <a:rPr sz="1400" b="1" dirty="0">
                <a:solidFill>
                  <a:srgbClr val="000000"/>
                </a:solidFill>
                <a:latin typeface="Calibri"/>
              </a:rPr>
              <a:t>Worksheet 3 Key (Everyday Scientists &amp; Collaboration)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id="{CB460F06-82B0-4044-9809-A12AD0A03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29" y="49"/>
            <a:ext cx="749864" cy="326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9530" tIns="24765" rIns="49530" bIns="24765" numCol="1" anchor="t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49537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09963" algn="ctr"/>
                <a:tab pos="3219927" algn="r"/>
              </a:tabLst>
            </a:pPr>
            <a:r>
              <a:rPr sz="1400" b="1">
                <a:solidFill>
                  <a:srgbClr val="000000"/>
                </a:solidFill>
                <a:latin typeface="Calibri"/>
              </a:rPr>
              <a:t>Class 6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ctr" defTabSz="49537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09963" algn="ctr"/>
                <a:tab pos="3219927" algn="r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5" name="Text Box 1">
            <a:extLst>
              <a:ext uri="{FF2B5EF4-FFF2-40B4-BE49-F238E27FC236}">
                <a16:creationId xmlns:a16="http://schemas.microsoft.com/office/drawing/2014/main" id="{9A44F0F2-410E-5AF8-860C-B5A0399B8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73" y="211939"/>
            <a:ext cx="763229" cy="326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9530" tIns="24765" rIns="49530" bIns="24765" numCol="1" anchor="t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49537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609963" algn="ctr"/>
                <a:tab pos="3219927" algn="r"/>
              </a:tabLst>
            </a:pPr>
            <a:r>
              <a:rPr sz="1400" b="1" dirty="0">
                <a:solidFill>
                  <a:srgbClr val="000000"/>
                </a:solidFill>
                <a:latin typeface="Calibri"/>
              </a:rPr>
              <a:t>Science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6" name="Text Box 1">
            <a:extLst>
              <a:ext uri="{FF2B5EF4-FFF2-40B4-BE49-F238E27FC236}">
                <a16:creationId xmlns:a16="http://schemas.microsoft.com/office/drawing/2014/main" id="{59630C7D-7735-22CF-C509-D95C495515ED}"/>
              </a:ext>
            </a:extLst>
          </p:cNvPr>
          <p:cNvSpPr txBox="1"/>
          <p:nvPr/>
        </p:nvSpPr>
        <p:spPr bwMode="auto">
          <a:xfrm>
            <a:off x="0" y="-20166"/>
            <a:ext cx="9906001" cy="250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9530" tIns="24765" rIns="49530" bIns="24765" numCol="1" anchor="t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defTabSz="495373">
              <a:buClrTx/>
              <a:tabLst>
                <a:tab pos="1609963" algn="ctr"/>
                <a:tab pos="3219927" algn="r"/>
              </a:tabLst>
            </a:pPr>
            <a:r>
              <a:rPr lang="en-US" sz="1400" b="1" dirty="0">
                <a:solidFill>
                  <a:srgbClr val="000000"/>
                </a:solidFill>
                <a:latin typeface="Calibri"/>
              </a:rPr>
              <a:t>Chapter</a:t>
            </a:r>
            <a:r>
              <a:rPr sz="1400" b="1" dirty="0">
                <a:solidFill>
                  <a:srgbClr val="000000"/>
                </a:solidFill>
                <a:latin typeface="Calibri"/>
              </a:rPr>
              <a:t> 1 – Wonderful World of Science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8445C1-2DD0-30D4-5688-C6F4D7B6B4BD}"/>
              </a:ext>
            </a:extLst>
          </p:cNvPr>
          <p:cNvSpPr txBox="1"/>
          <p:nvPr/>
        </p:nvSpPr>
        <p:spPr>
          <a:xfrm>
            <a:off x="305530" y="518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0070C0"/>
                </a:solidFill>
                <a:latin typeface="Calibri"/>
              </a:rPr>
              <a:t>A. MULTIPLE CHOICE QUESTIONS (MCQ)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0422A4-E06F-0F17-DC69-A06E202EBA3F}"/>
              </a:ext>
            </a:extLst>
          </p:cNvPr>
          <p:cNvSpPr txBox="1"/>
          <p:nvPr/>
        </p:nvSpPr>
        <p:spPr>
          <a:xfrm>
            <a:off x="305530" y="718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latin typeface="Calibri"/>
              </a:rPr>
              <a:t>Q1. </a:t>
            </a:r>
            <a:r>
              <a:rPr sz="1000" b="0">
                <a:latin typeface="Calibri"/>
              </a:rPr>
              <a:t>Why does a bicycle repair person use a bowl of water to check a flat tyre?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BA4FA-F954-92C7-D833-DE576BF790C6}"/>
              </a:ext>
            </a:extLst>
          </p:cNvPr>
          <p:cNvSpPr txBox="1"/>
          <p:nvPr/>
        </p:nvSpPr>
        <p:spPr>
          <a:xfrm>
            <a:off x="515530" y="918483"/>
            <a:ext cx="4330128" cy="707886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0" dirty="0">
                <a:latin typeface="Calibri"/>
              </a:rPr>
              <a:t>a) To clean the </a:t>
            </a:r>
            <a:r>
              <a:rPr sz="1000" b="0" dirty="0" err="1">
                <a:latin typeface="Calibri"/>
              </a:rPr>
              <a:t>tyre</a:t>
            </a:r>
            <a:r>
              <a:rPr sz="1000" b="0" dirty="0">
                <a:latin typeface="Calibri"/>
              </a:rPr>
              <a:t>.</a:t>
            </a:r>
          </a:p>
          <a:p>
            <a:r>
              <a:rPr sz="1000" b="0" dirty="0">
                <a:latin typeface="Calibri"/>
              </a:rPr>
              <a:t>b) To test their guess about where the air is leaking.</a:t>
            </a:r>
          </a:p>
          <a:p>
            <a:r>
              <a:rPr sz="1000" b="0" dirty="0">
                <a:latin typeface="Calibri"/>
              </a:rPr>
              <a:t>c) To observe if the rubber changes color.</a:t>
            </a:r>
          </a:p>
          <a:p>
            <a:r>
              <a:rPr sz="1000" b="0" dirty="0">
                <a:latin typeface="Calibri"/>
              </a:rPr>
              <a:t>d) Because water makes the </a:t>
            </a:r>
            <a:r>
              <a:rPr sz="1000" b="0" dirty="0" err="1">
                <a:latin typeface="Calibri"/>
              </a:rPr>
              <a:t>tyre</a:t>
            </a:r>
            <a:r>
              <a:rPr sz="1000" b="0" dirty="0">
                <a:latin typeface="Calibri"/>
              </a:rPr>
              <a:t> stronger.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D1FE69-D787-E67D-E113-651B08776A30}"/>
              </a:ext>
            </a:extLst>
          </p:cNvPr>
          <p:cNvSpPr txBox="1"/>
          <p:nvPr/>
        </p:nvSpPr>
        <p:spPr>
          <a:xfrm>
            <a:off x="305530" y="1583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1F6B1F"/>
                </a:solidFill>
                <a:latin typeface="Calibri"/>
              </a:rPr>
              <a:t>✔ Correct Answer: </a:t>
            </a:r>
            <a:r>
              <a:rPr sz="1000" b="0">
                <a:solidFill>
                  <a:srgbClr val="1F6B1F"/>
                </a:solidFill>
                <a:latin typeface="Calibri"/>
              </a:rPr>
              <a:t>b) To test their guess about where the air is leaking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016CAC-81E1-408F-B8EA-4C35172D9635}"/>
              </a:ext>
            </a:extLst>
          </p:cNvPr>
          <p:cNvSpPr txBox="1"/>
          <p:nvPr/>
        </p:nvSpPr>
        <p:spPr>
          <a:xfrm>
            <a:off x="305530" y="1853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latin typeface="Calibri"/>
              </a:rPr>
              <a:t>Q2. </a:t>
            </a:r>
            <a:r>
              <a:rPr sz="1000" b="0">
                <a:latin typeface="Calibri"/>
              </a:rPr>
              <a:t>What is the "first and foremost" thing needed to learn science well?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42DA3D-3447-A195-A94B-32AC52BB9C69}"/>
              </a:ext>
            </a:extLst>
          </p:cNvPr>
          <p:cNvSpPr txBox="1"/>
          <p:nvPr/>
        </p:nvSpPr>
        <p:spPr>
          <a:xfrm>
            <a:off x="515530" y="2053483"/>
            <a:ext cx="4330128" cy="707886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0">
                <a:latin typeface="Calibri"/>
              </a:rPr>
              <a:t>a) A laboratory</a:t>
            </a:r>
          </a:p>
          <a:p>
            <a:r>
              <a:rPr sz="1000" b="0">
                <a:latin typeface="Calibri"/>
              </a:rPr>
              <a:t>b) Expensive books</a:t>
            </a:r>
          </a:p>
          <a:p>
            <a:r>
              <a:rPr sz="1000" b="0">
                <a:latin typeface="Calibri"/>
              </a:rPr>
              <a:t>c) To be curious and observe surroundings keenly</a:t>
            </a:r>
          </a:p>
          <a:p>
            <a:r>
              <a:rPr sz="1000" b="0">
                <a:latin typeface="Calibri"/>
              </a:rPr>
              <a:t>d) To memorize all facts.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E5B3AD-93AF-02C7-D44A-AA6DBD2E7EF1}"/>
              </a:ext>
            </a:extLst>
          </p:cNvPr>
          <p:cNvSpPr txBox="1"/>
          <p:nvPr/>
        </p:nvSpPr>
        <p:spPr>
          <a:xfrm>
            <a:off x="305530" y="2718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1F6B1F"/>
                </a:solidFill>
                <a:latin typeface="Calibri"/>
              </a:rPr>
              <a:t>✔ Correct Answer: </a:t>
            </a:r>
            <a:r>
              <a:rPr sz="1000" b="0">
                <a:solidFill>
                  <a:srgbClr val="1F6B1F"/>
                </a:solidFill>
                <a:latin typeface="Calibri"/>
              </a:rPr>
              <a:t>c) To be curious and observe surroundings keenly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69D4CB-2C13-3D8E-21BC-6E6332D6E630}"/>
              </a:ext>
            </a:extLst>
          </p:cNvPr>
          <p:cNvSpPr txBox="1"/>
          <p:nvPr/>
        </p:nvSpPr>
        <p:spPr>
          <a:xfrm>
            <a:off x="305530" y="3048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0070C0"/>
                </a:solidFill>
                <a:latin typeface="Calibri"/>
              </a:rPr>
              <a:t>B. FILL IN THE BLANKS (FIB)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7D23A5-CD15-FDAE-A816-3B9DCFE4856C}"/>
              </a:ext>
            </a:extLst>
          </p:cNvPr>
          <p:cNvSpPr txBox="1"/>
          <p:nvPr/>
        </p:nvSpPr>
        <p:spPr>
          <a:xfrm>
            <a:off x="305530" y="3248483"/>
            <a:ext cx="4540128" cy="400110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latin typeface="Calibri"/>
              </a:rPr>
              <a:t>Q3. </a:t>
            </a:r>
            <a:r>
              <a:rPr sz="1000" b="0">
                <a:latin typeface="Calibri"/>
              </a:rPr>
              <a:t>Anyone who follows the __________ method to solve problems or discover new things is working like a scientist.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C8EEF2-CA1A-C687-E048-AA25ADB9EC22}"/>
              </a:ext>
            </a:extLst>
          </p:cNvPr>
          <p:cNvSpPr txBox="1"/>
          <p:nvPr/>
        </p:nvSpPr>
        <p:spPr>
          <a:xfrm>
            <a:off x="305530" y="3628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1F6B1F"/>
                </a:solidFill>
                <a:latin typeface="Calibri"/>
              </a:rPr>
              <a:t>✔ Answer: </a:t>
            </a:r>
            <a:r>
              <a:rPr sz="1000" b="0">
                <a:solidFill>
                  <a:srgbClr val="1F6B1F"/>
                </a:solidFill>
                <a:latin typeface="Calibri"/>
              </a:rPr>
              <a:t>scientific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78CD2C-519F-A1C2-4878-A32D7B036AED}"/>
              </a:ext>
            </a:extLst>
          </p:cNvPr>
          <p:cNvSpPr txBox="1"/>
          <p:nvPr/>
        </p:nvSpPr>
        <p:spPr>
          <a:xfrm>
            <a:off x="305530" y="3898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latin typeface="Calibri"/>
              </a:rPr>
              <a:t>Q4. </a:t>
            </a:r>
            <a:r>
              <a:rPr sz="1000" b="0">
                <a:latin typeface="Calibri"/>
              </a:rPr>
              <a:t>To be a wise person, the text suggests you must be a "__________" person.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18D90D-851F-59D1-FADD-21C5B39361EC}"/>
              </a:ext>
            </a:extLst>
          </p:cNvPr>
          <p:cNvSpPr txBox="1"/>
          <p:nvPr/>
        </p:nvSpPr>
        <p:spPr>
          <a:xfrm>
            <a:off x="305530" y="4098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1F6B1F"/>
                </a:solidFill>
                <a:latin typeface="Calibri"/>
              </a:rPr>
              <a:t>✔ Answer: </a:t>
            </a:r>
            <a:r>
              <a:rPr sz="1000" b="0">
                <a:solidFill>
                  <a:srgbClr val="1F6B1F"/>
                </a:solidFill>
                <a:latin typeface="Calibri"/>
              </a:rPr>
              <a:t>whys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9E1FCD-2DE6-4CA0-E235-E7CA14525FF1}"/>
              </a:ext>
            </a:extLst>
          </p:cNvPr>
          <p:cNvSpPr txBox="1"/>
          <p:nvPr/>
        </p:nvSpPr>
        <p:spPr>
          <a:xfrm>
            <a:off x="305530" y="4428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0070C0"/>
                </a:solidFill>
                <a:latin typeface="Calibri"/>
              </a:rPr>
              <a:t>C. TRUE OR FALSE (T/F)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70773A-E57E-738B-6C36-EC451251FC54}"/>
              </a:ext>
            </a:extLst>
          </p:cNvPr>
          <p:cNvSpPr txBox="1"/>
          <p:nvPr/>
        </p:nvSpPr>
        <p:spPr>
          <a:xfrm>
            <a:off x="305530" y="4628483"/>
            <a:ext cx="4540128" cy="400110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latin typeface="Calibri"/>
              </a:rPr>
              <a:t>Q5. </a:t>
            </a:r>
            <a:r>
              <a:rPr sz="1000" b="0">
                <a:latin typeface="Calibri"/>
              </a:rPr>
              <a:t>An electrician trying to find out why a bulb is not working is acting like a scientist.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1133FA-88E5-E986-BA3B-B7DE61F7CC50}"/>
              </a:ext>
            </a:extLst>
          </p:cNvPr>
          <p:cNvSpPr txBox="1"/>
          <p:nvPr/>
        </p:nvSpPr>
        <p:spPr>
          <a:xfrm>
            <a:off x="305530" y="5008483"/>
            <a:ext cx="4540128" cy="400110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1F6B1F"/>
                </a:solidFill>
                <a:latin typeface="Calibri"/>
              </a:rPr>
              <a:t>Answer: True</a:t>
            </a:r>
            <a:r>
              <a:rPr sz="1000" b="0">
                <a:solidFill>
                  <a:srgbClr val="1F6B1F"/>
                </a:solidFill>
                <a:latin typeface="Calibri"/>
              </a:rPr>
              <a:t> – They use logic to find whether the problem is the bulb or the switch.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46D7E0-3FFF-F2A4-0175-6720039E5A25}"/>
              </a:ext>
            </a:extLst>
          </p:cNvPr>
          <p:cNvSpPr txBox="1"/>
          <p:nvPr/>
        </p:nvSpPr>
        <p:spPr>
          <a:xfrm>
            <a:off x="305530" y="5448483"/>
            <a:ext cx="4540128" cy="400110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latin typeface="Calibri"/>
              </a:rPr>
              <a:t>Q6. </a:t>
            </a:r>
            <a:r>
              <a:rPr sz="1000" b="0">
                <a:latin typeface="Calibri"/>
              </a:rPr>
              <a:t>Scientific discovery is an ending jigsaw puzzle with a limited number of pieces.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F2ECD2-0538-E8ED-FDC5-F04DD07A8622}"/>
              </a:ext>
            </a:extLst>
          </p:cNvPr>
          <p:cNvSpPr txBox="1"/>
          <p:nvPr/>
        </p:nvSpPr>
        <p:spPr>
          <a:xfrm>
            <a:off x="305530" y="5828483"/>
            <a:ext cx="4540128" cy="400110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1F6B1F"/>
                </a:solidFill>
                <a:latin typeface="Calibri"/>
              </a:rPr>
              <a:t>Answer: </a:t>
            </a:r>
            <a:r>
              <a:rPr sz="1000" b="1">
                <a:solidFill>
                  <a:srgbClr val="FF0000"/>
                </a:solidFill>
                <a:latin typeface="Calibri"/>
              </a:rPr>
              <a:t>False</a:t>
            </a:r>
            <a:r>
              <a:rPr sz="1000" b="0">
                <a:solidFill>
                  <a:srgbClr val="1F6B1F"/>
                </a:solidFill>
                <a:latin typeface="Calibri"/>
              </a:rPr>
              <a:t> – The puzzle is "unending" and there is no limit to discovery.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7377BD-F2E1-8BB4-DC99-D75CEB90DF96}"/>
              </a:ext>
            </a:extLst>
          </p:cNvPr>
          <p:cNvSpPr txBox="1"/>
          <p:nvPr/>
        </p:nvSpPr>
        <p:spPr>
          <a:xfrm>
            <a:off x="5137288" y="518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0070C0"/>
                </a:solidFill>
                <a:latin typeface="Calibri"/>
              </a:rPr>
              <a:t>D. ASSERTION–REASON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49009D-C21B-B732-6FCC-58EC3253B966}"/>
              </a:ext>
            </a:extLst>
          </p:cNvPr>
          <p:cNvSpPr txBox="1"/>
          <p:nvPr/>
        </p:nvSpPr>
        <p:spPr>
          <a:xfrm>
            <a:off x="5137288" y="718483"/>
            <a:ext cx="4540128" cy="564000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latin typeface="Calibri"/>
              </a:rPr>
              <a:t>Q7. Assertion: </a:t>
            </a:r>
            <a:r>
              <a:rPr sz="1000" b="0">
                <a:latin typeface="Calibri"/>
              </a:rPr>
              <a:t>Collaboration is important in science.</a:t>
            </a:r>
          </a:p>
          <a:p>
            <a:r>
              <a:rPr sz="1000" b="1">
                <a:latin typeface="Calibri"/>
              </a:rPr>
              <a:t>Reason</a:t>
            </a:r>
            <a:r>
              <a:rPr sz="1000" b="0">
                <a:latin typeface="Calibri"/>
              </a:rPr>
              <a:t>: It is more fun and effective to discover things together with friends.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A36921-92C7-1D69-8764-DA57D251BD37}"/>
              </a:ext>
            </a:extLst>
          </p:cNvPr>
          <p:cNvSpPr txBox="1"/>
          <p:nvPr/>
        </p:nvSpPr>
        <p:spPr>
          <a:xfrm>
            <a:off x="5347288" y="1081420"/>
            <a:ext cx="4330128" cy="707886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0" dirty="0">
                <a:latin typeface="Calibri"/>
              </a:rPr>
              <a:t>a) Both Assertion and Reason are true, Reason is the correct explanation.</a:t>
            </a:r>
          </a:p>
          <a:p>
            <a:r>
              <a:rPr sz="1000" b="0" dirty="0">
                <a:latin typeface="Calibri"/>
              </a:rPr>
              <a:t>b) Both are true but Reason is NOT the correct explanation.</a:t>
            </a:r>
          </a:p>
          <a:p>
            <a:r>
              <a:rPr sz="1000" b="0" dirty="0">
                <a:latin typeface="Calibri"/>
              </a:rPr>
              <a:t>c) Assertion is true but Reason is false.</a:t>
            </a:r>
          </a:p>
          <a:p>
            <a:r>
              <a:rPr sz="1000" b="0" dirty="0">
                <a:latin typeface="Calibri"/>
              </a:rPr>
              <a:t>d) Assertion is false but Reason is true.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3ABAEF-2F87-8E9D-F67F-8C8319A101C1}"/>
              </a:ext>
            </a:extLst>
          </p:cNvPr>
          <p:cNvSpPr txBox="1"/>
          <p:nvPr/>
        </p:nvSpPr>
        <p:spPr>
          <a:xfrm>
            <a:off x="5137288" y="1765704"/>
            <a:ext cx="4540128" cy="396000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 dirty="0">
                <a:solidFill>
                  <a:srgbClr val="1F6B1F"/>
                </a:solidFill>
                <a:latin typeface="Calibri"/>
              </a:rPr>
              <a:t>✔ Correct Answer: </a:t>
            </a:r>
            <a:r>
              <a:rPr sz="1000" b="0" dirty="0">
                <a:solidFill>
                  <a:srgbClr val="1F6B1F"/>
                </a:solidFill>
                <a:latin typeface="Calibri"/>
              </a:rPr>
              <a:t>(A) Both Assertion and Reason are true and Reason is the correct explanation.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A901C0-214A-D554-4787-70B19638FA43}"/>
              </a:ext>
            </a:extLst>
          </p:cNvPr>
          <p:cNvSpPr txBox="1"/>
          <p:nvPr/>
        </p:nvSpPr>
        <p:spPr>
          <a:xfrm>
            <a:off x="5137288" y="2178716"/>
            <a:ext cx="4540128" cy="564000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 dirty="0">
                <a:latin typeface="Calibri"/>
              </a:rPr>
              <a:t>Q8. Assertion: </a:t>
            </a:r>
            <a:r>
              <a:rPr sz="1000" b="0" dirty="0">
                <a:latin typeface="Calibri"/>
              </a:rPr>
              <a:t>A cook wondering why dal spilled out of a cooker is following a scientific method.</a:t>
            </a:r>
          </a:p>
          <a:p>
            <a:r>
              <a:rPr sz="1000" b="1" dirty="0">
                <a:latin typeface="Calibri"/>
              </a:rPr>
              <a:t>Reason</a:t>
            </a:r>
            <a:r>
              <a:rPr sz="1000" b="0" dirty="0">
                <a:latin typeface="Calibri"/>
              </a:rPr>
              <a:t>: Science only happens in a laboratory.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8EF898-B19D-9F4A-C644-E58199C5502C}"/>
              </a:ext>
            </a:extLst>
          </p:cNvPr>
          <p:cNvSpPr txBox="1"/>
          <p:nvPr/>
        </p:nvSpPr>
        <p:spPr>
          <a:xfrm>
            <a:off x="5347288" y="2681875"/>
            <a:ext cx="4330128" cy="707886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0" dirty="0">
                <a:latin typeface="Calibri"/>
              </a:rPr>
              <a:t>a) Both Assertion and Reason are true, Reason is the correct explanation.</a:t>
            </a:r>
          </a:p>
          <a:p>
            <a:r>
              <a:rPr sz="1000" b="0" dirty="0">
                <a:latin typeface="Calibri"/>
              </a:rPr>
              <a:t>b) Both are true but Reason is NOT the correct explanation.</a:t>
            </a:r>
          </a:p>
          <a:p>
            <a:r>
              <a:rPr sz="1000" b="0" dirty="0">
                <a:latin typeface="Calibri"/>
              </a:rPr>
              <a:t>c) Assertion is true but Reason is false.</a:t>
            </a:r>
          </a:p>
          <a:p>
            <a:r>
              <a:rPr sz="1000" b="0" dirty="0">
                <a:latin typeface="Calibri"/>
              </a:rPr>
              <a:t>d) Assertion is false but Reason is true.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8D8ABC-6A6F-E2D4-C9FE-D8EC8B25D924}"/>
              </a:ext>
            </a:extLst>
          </p:cNvPr>
          <p:cNvSpPr txBox="1"/>
          <p:nvPr/>
        </p:nvSpPr>
        <p:spPr>
          <a:xfrm>
            <a:off x="5137288" y="3376262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 dirty="0">
                <a:solidFill>
                  <a:srgbClr val="1F6B1F"/>
                </a:solidFill>
                <a:latin typeface="Calibri"/>
              </a:rPr>
              <a:t>✔ Correct Answer: </a:t>
            </a:r>
            <a:r>
              <a:rPr sz="1000" b="0" dirty="0">
                <a:solidFill>
                  <a:srgbClr val="1F6B1F"/>
                </a:solidFill>
                <a:latin typeface="Calibri"/>
              </a:rPr>
              <a:t>(C) Assertion is true but Reason is false.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770C22-6A5D-1361-E567-9A39E5700CA5}"/>
              </a:ext>
            </a:extLst>
          </p:cNvPr>
          <p:cNvSpPr txBox="1"/>
          <p:nvPr/>
        </p:nvSpPr>
        <p:spPr>
          <a:xfrm>
            <a:off x="5137288" y="3689372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 dirty="0">
                <a:solidFill>
                  <a:srgbClr val="0070C0"/>
                </a:solidFill>
                <a:latin typeface="Calibri"/>
              </a:rPr>
              <a:t>E. SHORT ANSWER QUESTIONS (SA)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781EDF-704E-96FE-232B-FF4D2872E379}"/>
              </a:ext>
            </a:extLst>
          </p:cNvPr>
          <p:cNvSpPr txBox="1"/>
          <p:nvPr/>
        </p:nvSpPr>
        <p:spPr>
          <a:xfrm>
            <a:off x="5137288" y="3946262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latin typeface="Calibri"/>
              </a:rPr>
              <a:t>Q9. </a:t>
            </a:r>
            <a:r>
              <a:rPr sz="1000" b="0">
                <a:latin typeface="Calibri"/>
              </a:rPr>
              <a:t>Give two examples of everyday professionals who apply scientific thinking.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B4FEA1-1100-A2A4-4742-4870A6AEDBE2}"/>
              </a:ext>
            </a:extLst>
          </p:cNvPr>
          <p:cNvSpPr txBox="1"/>
          <p:nvPr/>
        </p:nvSpPr>
        <p:spPr>
          <a:xfrm>
            <a:off x="5137288" y="4212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1F6B1F"/>
                </a:solidFill>
                <a:latin typeface="Calibri"/>
              </a:rPr>
              <a:t>✔ Answer: </a:t>
            </a:r>
            <a:r>
              <a:rPr sz="1000" b="0">
                <a:solidFill>
                  <a:srgbClr val="1F6B1F"/>
                </a:solidFill>
                <a:latin typeface="Calibri"/>
              </a:rPr>
              <a:t>Cook, bicycle repair person, electrician.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DC882D-2042-C286-F69D-6CE1BD059B2B}"/>
              </a:ext>
            </a:extLst>
          </p:cNvPr>
          <p:cNvSpPr txBox="1"/>
          <p:nvPr/>
        </p:nvSpPr>
        <p:spPr>
          <a:xfrm>
            <a:off x="5137288" y="4482483"/>
            <a:ext cx="4540128" cy="400110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latin typeface="Calibri"/>
              </a:rPr>
              <a:t>Q10. </a:t>
            </a:r>
            <a:r>
              <a:rPr sz="1000" b="0">
                <a:latin typeface="Calibri"/>
              </a:rPr>
              <a:t>What should you do if you cannot find an answer to a scientific question by yourself?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3C17EF-CCEB-AF94-27E4-F15BA4CD2602}"/>
              </a:ext>
            </a:extLst>
          </p:cNvPr>
          <p:cNvSpPr txBox="1"/>
          <p:nvPr/>
        </p:nvSpPr>
        <p:spPr>
          <a:xfrm>
            <a:off x="5137288" y="4862483"/>
            <a:ext cx="4540128" cy="396000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1F6B1F"/>
                </a:solidFill>
                <a:latin typeface="Calibri"/>
              </a:rPr>
              <a:t>✔ Answer: </a:t>
            </a:r>
            <a:r>
              <a:rPr sz="1000" b="0">
                <a:solidFill>
                  <a:srgbClr val="1F6B1F"/>
                </a:solidFill>
                <a:latin typeface="Calibri"/>
              </a:rPr>
              <a:t>Ask your friends or teachers for help — scientists often work together to find answers.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A2FCC6-37AC-07BB-0878-509D1E2E4465}"/>
              </a:ext>
            </a:extLst>
          </p:cNvPr>
          <p:cNvSpPr txBox="1"/>
          <p:nvPr/>
        </p:nvSpPr>
        <p:spPr>
          <a:xfrm>
            <a:off x="5137288" y="5288483"/>
            <a:ext cx="4540128" cy="246221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0070C0"/>
                </a:solidFill>
                <a:latin typeface="Calibri"/>
              </a:rPr>
              <a:t>F. LONG ANSWER QUESTION (LA)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FFF589-45A6-2868-D89C-757968C1FAE3}"/>
              </a:ext>
            </a:extLst>
          </p:cNvPr>
          <p:cNvSpPr txBox="1"/>
          <p:nvPr/>
        </p:nvSpPr>
        <p:spPr>
          <a:xfrm>
            <a:off x="5137288" y="5488483"/>
            <a:ext cx="4540128" cy="400110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latin typeface="Calibri"/>
              </a:rPr>
              <a:t>Q11. </a:t>
            </a:r>
            <a:r>
              <a:rPr sz="1000" b="0">
                <a:latin typeface="Calibri"/>
              </a:rPr>
              <a:t>Using the example of a bicycle repair person or an electrician, describe the steps they take that mirror the scientific method.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5C5995-EA1D-A284-5E6F-5FD9B17836AC}"/>
              </a:ext>
            </a:extLst>
          </p:cNvPr>
          <p:cNvSpPr txBox="1"/>
          <p:nvPr/>
        </p:nvSpPr>
        <p:spPr>
          <a:xfrm>
            <a:off x="5137288" y="5868483"/>
            <a:ext cx="4540128" cy="861774"/>
          </a:xfrm>
          <a:prstGeom prst="rect">
            <a:avLst/>
          </a:prstGeom>
          <a:noFill/>
        </p:spPr>
        <p:txBody>
          <a:bodyPr wrap="square" lIns="0" tIns="25000" rIns="0" bIns="25000">
            <a:spAutoFit/>
          </a:bodyPr>
          <a:lstStyle/>
          <a:p>
            <a:r>
              <a:rPr sz="1000" b="1">
                <a:solidFill>
                  <a:srgbClr val="1F6B1F"/>
                </a:solidFill>
                <a:latin typeface="Calibri"/>
              </a:rPr>
              <a:t>✔ Answer:</a:t>
            </a:r>
          </a:p>
          <a:p>
            <a:r>
              <a:rPr sz="1000" b="0">
                <a:solidFill>
                  <a:srgbClr val="1F6B1F"/>
                </a:solidFill>
                <a:latin typeface="Calibri"/>
              </a:rPr>
              <a:t>They guess a possible cause (leak location or broken switch).</a:t>
            </a:r>
          </a:p>
          <a:p>
            <a:r>
              <a:rPr sz="1000" b="0">
                <a:solidFill>
                  <a:srgbClr val="1F6B1F"/>
                </a:solidFill>
                <a:latin typeface="Calibri"/>
              </a:rPr>
              <a:t>They test their idea (water bowl or checking the bulb).</a:t>
            </a:r>
          </a:p>
          <a:p>
            <a:r>
              <a:rPr sz="1000" b="0">
                <a:solidFill>
                  <a:srgbClr val="1F6B1F"/>
                </a:solidFill>
                <a:latin typeface="Calibri"/>
              </a:rPr>
              <a:t>They analyze whether their solution worked.</a:t>
            </a:r>
          </a:p>
        </p:txBody>
      </p:sp>
    </p:spTree>
    <p:extLst>
      <p:ext uri="{BB962C8B-B14F-4D97-AF65-F5344CB8AC3E}">
        <p14:creationId xmlns:p14="http://schemas.microsoft.com/office/powerpoint/2010/main" val="3038418157"/>
      </p:ext>
    </p:extLst>
  </p:cSld>
  <p:clrMapOvr>
    <a:masterClrMapping/>
  </p:clrMapOvr>
</p:sld>
</file>

<file path=ppt/theme/theme1.xml><?xml version="1.0" encoding="utf-8"?>
<a:theme xmlns:a="http://schemas.openxmlformats.org/drawingml/2006/main" name="1_MATHEMATICS SLIDE MAST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12083</TotalTime>
  <Words>622</Words>
  <Application>Microsoft Office PowerPoint</Application>
  <PresentationFormat>A4 Paper (210x297 mm)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Calibri</vt:lpstr>
      <vt:lpstr>Arial</vt:lpstr>
      <vt:lpstr>1_MATHEMATICS SLIDE MASTER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5944</dc:creator>
  <cp:lastModifiedBy>17467</cp:lastModifiedBy>
  <cp:revision>3241</cp:revision>
  <dcterms:created xsi:type="dcterms:W3CDTF">2024-01-29T07:13:26Z</dcterms:created>
  <dcterms:modified xsi:type="dcterms:W3CDTF">2026-03-17T10:34:22Z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2025-05-13T10:09:21Z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e7e8e01c-5968-455d-b56a-d920f59b74e6</vt:lpwstr>
  </property>
  <property fmtid="{D5CDD505-2E9C-101B-9397-08002B2CF9AE}" pid="7" name="MSIP_Label_defa4170-0d19-0005-0004-bc88714345d2_ActionId">
    <vt:lpwstr>4223d3f6-b777-4542-9312-4076c92ee668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